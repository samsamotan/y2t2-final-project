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280160"/>
            <a:ext cx="164592" cy="292608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DMW FINAL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SteamSale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6C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Discount Depth and Value Retention of PC Games on Steam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2286000" cy="0"/>
          </a:xfrm>
          <a:prstGeom prst="line">
            <a:avLst/>
          </a:prstGeom>
          <a:noFill/>
          <a:ln w="19050">
            <a:solidFill>
              <a:srgbClr val="E079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and Warehousing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Institute of Management  •  Y2 T2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914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Buy-vs-wait advice on Steam is folklore. We want to ground it in data.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291840" cy="31089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828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100,000+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on Steam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63040" y="3246120"/>
            <a:ext cx="1280160" cy="0"/>
          </a:xfrm>
          <a:prstGeom prst="line">
            <a:avLst/>
          </a:prstGeom>
          <a:noFill/>
          <a:ln w="19050">
            <a:solidFill>
              <a:srgbClr val="E079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discounted every weekend at depths from 10% to 95%.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0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questions, one dataset.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023360" y="2057400"/>
            <a:ext cx="54864" cy="1005840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2057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2331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discount real, or is it inflated against a fake “regular” price? Will the game drop further if I wait?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23360" y="3246120"/>
            <a:ext cx="54864" cy="1005840"/>
          </a:xfrm>
          <a:prstGeom prst="rect">
            <a:avLst/>
          </a:prstGeom>
          <a:solidFill>
            <a:srgbClr val="66C0F4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3246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DEVELOPER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35204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leaving money on the table by joining the next big sale, or is participation actually the only thing that moves my revenue?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D8D4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SteamSale  •  DMW Final Project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Research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914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dataset, two audiences, one project.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502920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— Pricing &amp; Value Retention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0233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05740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current Steam price from game attributes (genre, age, reviews, multiplayer, achievements).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titles retain value best vs. depreciate aggressively.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game into a value-retention tier: Premium Hold, Standard, Heavy Discount, Permanent Bargain.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502920"/>
          </a:xfrm>
          <a:prstGeom prst="rect">
            <a:avLst/>
          </a:prstGeom>
          <a:solidFill>
            <a:srgbClr val="2A475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— Sale Effectiveness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920240"/>
            <a:ext cx="40233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205740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player-count uplift during sale windows vs. pre-sale baseline.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uplift from discount depth, age, sale type, and prior discount history.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sales: High Impact / Moderate Lift / Diminishing Returns / No Effect.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D8D4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SteamSale  •  DMW Final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914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free APIs and one scraper feed one SQLite warehouse. ~5,000 games sampled.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4650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45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Steam Storefront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prices (PHP), discount %, release date, genres, devs, Metacritic.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41732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645920"/>
            <a:ext cx="502920" cy="50292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74650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23360" y="1645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Steam Web API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2900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concurrent player counts, per-call snapshot.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41732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645920"/>
            <a:ext cx="502920" cy="50292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74650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1645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Steam Reviews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1792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counts + score, plus per-review timestamps for velocity.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297180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30098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SteamSpy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4008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bucket, playtime medians, community tags.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46120" y="297180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429000" y="3200400"/>
            <a:ext cx="502920" cy="50292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584" y="330098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23360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IsThereAnyDeal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42900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price points + sale events. The Part 2 backbone.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035040" y="297180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17920" y="3200400"/>
            <a:ext cx="502920" cy="50292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3300984"/>
            <a:ext cx="301752" cy="30175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12280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SteamCharts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21792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CCU time series back to 2012, ~weekly granularity.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D8D4CB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SteamSale  •  DMW Final Project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Warehouse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914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tables  •  resumable pipeline  •  one SQLite file</a:t>
            </a:r>
            <a:endParaRPr lang="en-US" sz="1200" dirty="0"/>
          </a:p>
        </p:txBody>
      </p:sp>
      <p:pic>
        <p:nvPicPr>
          <p:cNvPr id="5" name="Image 0" descr="C:\Users\Sam\Documents\College\2026 Spring Term\DMW\Y2T2-Final-Project\docs\db_schem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4480" y="1325880"/>
            <a:ext cx="603504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child table FKs back to games. The worklist (app_list) carries per-stage progress flags so the entire pipeline is resumable — safe to interrupt and restart.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D8D4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SteamSale  •  DMW Final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914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parts, four models, one methodological anchor.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2560320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—  PRICING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current price (PHP) from age, reviews, genre, dev, ownership, Metacritic. Linear → Random Forest → XGBoost.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retention tier: Premium Hold / Standard / Heavy Discount / Permanent Bargain. Multinomial logistic + tree ensembles.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417320"/>
            <a:ext cx="73152" cy="2560320"/>
          </a:xfrm>
          <a:prstGeom prst="rect">
            <a:avLst/>
          </a:prstGeom>
          <a:solidFill>
            <a:srgbClr val="2A47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—  SALE EFFECTIVENESS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player-count uplift % from discount depth, age at sale, sale type, prior discount cadence.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3200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effectiveness tier: High Impact / Moderate Lift / Diminishing Returns / No Effect.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game is its own control — sale uplift is measured against the same game's pre-sale baseline (14-day window), not cross-game.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D8D4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SteamSale  •  DMW Final Project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914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plan to deliver by the end of the project.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640080"/>
          </a:xfrm>
          <a:prstGeom prst="rect">
            <a:avLst/>
          </a:prstGeom>
          <a:solidFill>
            <a:srgbClr val="2A47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&amp; Artifacts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194560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regressors + classifiers (Part 1 and Part 2).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reports: RMSE, R², macro-F1, confusion matrices.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feature-importance plots.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417320"/>
            <a:ext cx="2697480" cy="640080"/>
          </a:xfrm>
          <a:prstGeom prst="rect">
            <a:avLst/>
          </a:prstGeom>
          <a:solidFill>
            <a:srgbClr val="2A47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54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74720" y="2194560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Discount-depth distribution by genre.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Price-decay curves vs. age.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 time series with sale events overlaid — the money plot.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417320"/>
            <a:ext cx="2697480" cy="640080"/>
          </a:xfrm>
          <a:prstGeom prst="rect">
            <a:avLst/>
          </a:prstGeom>
          <a:solidFill>
            <a:srgbClr val="2A475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Deliverables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63640" y="2194560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"Fair price" recommendation for buyers.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Sale-ROI forecast for indie developers.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Chrome extension overlay.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D8D4C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SteamSale  •  DMW Final Project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914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audiences, one model surface.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48740" y="1508760"/>
            <a:ext cx="914400" cy="91440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145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060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0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real deals.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34290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genuine discounts from inflated baselines. Surface Permanent Bargains.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37660" y="1508760"/>
            <a:ext cx="914400" cy="91440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145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26060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0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DEVELOPERS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46120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pricing.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383280" y="34290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similar titles. Forecast uplift before joining seasonal sales.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926580" y="1508760"/>
            <a:ext cx="914400" cy="91440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7145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26060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0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035040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 cadence.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172200" y="34290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sales actually move the needle vs. which are leaving money on the table.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D8D4C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SteamSale  •  DMW Final Project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Limitations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914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 limits — not excuses.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28016" cy="292608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173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Confounding sale signals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03320" y="141732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Player-count uplift conflates discount effect with patches, streamer coverage, and seasonality. Within-game baseline mitigates but doesn't eliminate.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84248"/>
            <a:ext cx="7863840" cy="0"/>
          </a:xfrm>
          <a:prstGeom prst="line">
            <a:avLst/>
          </a:prstGeom>
          <a:noFill/>
          <a:ln w="6350">
            <a:solidFill>
              <a:srgbClr val="D8D4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30552"/>
            <a:ext cx="128016" cy="292608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208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Coarse CCU granularity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202082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SteamCharts gives ~weekly per-game CCU, not daily. Fine for 7-day windows; cannot resolve sub-week effects.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87752"/>
            <a:ext cx="7863840" cy="0"/>
          </a:xfrm>
          <a:prstGeom prst="line">
            <a:avLst/>
          </a:prstGeom>
          <a:noFill/>
          <a:ln w="6350">
            <a:solidFill>
              <a:srgbClr val="D8D4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34056"/>
            <a:ext cx="128016" cy="292608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6243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in buckets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262432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SteamSpy estimates are bucketed (e.g. 10M..20M) since Valve restricted profile visibility in 2018.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91256"/>
            <a:ext cx="7863840" cy="0"/>
          </a:xfrm>
          <a:prstGeom prst="line">
            <a:avLst/>
          </a:prstGeom>
          <a:noFill/>
          <a:ln w="6350">
            <a:solidFill>
              <a:srgbClr val="D8D4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37560"/>
            <a:ext cx="128016" cy="292608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2278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ITAD coverage gaps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03320" y="322783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miss obscure indie titles. Dataset skews toward moderately-popular games where all sources have data.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7863840" cy="0"/>
          </a:xfrm>
          <a:prstGeom prst="line">
            <a:avLst/>
          </a:prstGeom>
          <a:noFill/>
          <a:ln w="6350">
            <a:solidFill>
              <a:srgbClr val="D8D4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941064"/>
            <a:ext cx="128016" cy="292608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8313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Survivorship bias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03320" y="383133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Delisted games drop out. The model only sees titles that survived.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398264"/>
            <a:ext cx="7863840" cy="0"/>
          </a:xfrm>
          <a:prstGeom prst="line">
            <a:avLst/>
          </a:prstGeom>
          <a:noFill/>
          <a:ln w="6350">
            <a:solidFill>
              <a:srgbClr val="D8D4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D8D4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SteamSale  •  DMW Final 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IN ONE 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0" y="1508760"/>
            <a:ext cx="1828800" cy="0"/>
          </a:xfrm>
          <a:prstGeom prst="line">
            <a:avLst/>
          </a:prstGeom>
          <a:noFill/>
          <a:ln w="19050">
            <a:solidFill>
              <a:srgbClr val="E079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</a:t>
            </a:r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tells you what to buy.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66C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</a:t>
            </a:r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tells you when to sell — if you're a developer.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dataset. Two audiences. One project.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079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3429000" y="3200400"/>
            <a:ext cx="2286000" cy="0"/>
          </a:xfrm>
          <a:prstGeom prst="line">
            <a:avLst/>
          </a:prstGeom>
          <a:noFill/>
          <a:ln w="19050">
            <a:solidFill>
              <a:srgbClr val="E079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SteamSale  •  DMW Final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8D4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Discount Depth and Value Retention of PC Games on Steam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SteamSale — DMW Final Project</dc:title>
  <dc:subject>PptxGenJS Presentation</dc:subject>
  <dc:creator>SteamSale Team</dc:creator>
  <cp:lastModifiedBy>SteamSale Team</cp:lastModifiedBy>
  <cp:revision>1</cp:revision>
  <dcterms:created xsi:type="dcterms:W3CDTF">2026-04-30T02:40:19Z</dcterms:created>
  <dcterms:modified xsi:type="dcterms:W3CDTF">2026-04-30T02:40:19Z</dcterms:modified>
</cp:coreProperties>
</file>